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00FF9C">
              <a:alpha val="8000"/>
            </a:srgbClr>
          </a:solidFill>
          <a:ln w="12700">
            <a:solidFill>
              <a:srgbClr val="00FF9C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9144"/>
          </a:xfrm>
          <a:prstGeom prst="rect">
            <a:avLst/>
          </a:prstGeom>
          <a:solidFill>
            <a:srgbClr val="00FF9C">
              <a:alpha val="8000"/>
            </a:srgbClr>
          </a:solidFill>
          <a:ln w="12700">
            <a:solidFill>
              <a:srgbClr val="00FF9C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9144"/>
          </a:xfrm>
          <a:prstGeom prst="rect">
            <a:avLst/>
          </a:prstGeom>
          <a:solidFill>
            <a:srgbClr val="00FF9C">
              <a:alpha val="8000"/>
            </a:srgbClr>
          </a:solidFill>
          <a:ln w="12700">
            <a:solidFill>
              <a:srgbClr val="00FF9C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71600"/>
            <a:ext cx="9144000" cy="9144"/>
          </a:xfrm>
          <a:prstGeom prst="rect">
            <a:avLst/>
          </a:prstGeom>
          <a:solidFill>
            <a:srgbClr val="00FF9C">
              <a:alpha val="8000"/>
            </a:srgbClr>
          </a:solidFill>
          <a:ln w="12700">
            <a:solidFill>
              <a:srgbClr val="00FF9C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9144"/>
          </a:xfrm>
          <a:prstGeom prst="rect">
            <a:avLst/>
          </a:prstGeom>
          <a:solidFill>
            <a:srgbClr val="00FF9C">
              <a:alpha val="8000"/>
            </a:srgbClr>
          </a:solidFill>
          <a:ln w="12700">
            <a:solidFill>
              <a:srgbClr val="00FF9C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86000"/>
            <a:ext cx="9144000" cy="9144"/>
          </a:xfrm>
          <a:prstGeom prst="rect">
            <a:avLst/>
          </a:prstGeom>
          <a:solidFill>
            <a:srgbClr val="00FF9C">
              <a:alpha val="8000"/>
            </a:srgbClr>
          </a:solidFill>
          <a:ln w="12700">
            <a:solidFill>
              <a:srgbClr val="00FF9C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0"/>
            <a:ext cx="9144000" cy="9144"/>
          </a:xfrm>
          <a:prstGeom prst="rect">
            <a:avLst/>
          </a:prstGeom>
          <a:solidFill>
            <a:srgbClr val="00FF9C">
              <a:alpha val="8000"/>
            </a:srgbClr>
          </a:solidFill>
          <a:ln w="12700">
            <a:solidFill>
              <a:srgbClr val="00FF9C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200400"/>
            <a:ext cx="9144000" cy="9144"/>
          </a:xfrm>
          <a:prstGeom prst="rect">
            <a:avLst/>
          </a:prstGeom>
          <a:solidFill>
            <a:srgbClr val="00FF9C">
              <a:alpha val="8000"/>
            </a:srgbClr>
          </a:solidFill>
          <a:ln w="12700">
            <a:solidFill>
              <a:srgbClr val="00FF9C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657600"/>
            <a:ext cx="9144000" cy="9144"/>
          </a:xfrm>
          <a:prstGeom prst="rect">
            <a:avLst/>
          </a:prstGeom>
          <a:solidFill>
            <a:srgbClr val="00FF9C">
              <a:alpha val="8000"/>
            </a:srgbClr>
          </a:solidFill>
          <a:ln w="12700">
            <a:solidFill>
              <a:srgbClr val="00FF9C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9144000" cy="9144"/>
          </a:xfrm>
          <a:prstGeom prst="rect">
            <a:avLst/>
          </a:prstGeom>
          <a:solidFill>
            <a:srgbClr val="00FF9C">
              <a:alpha val="8000"/>
            </a:srgbClr>
          </a:solidFill>
          <a:ln w="12700">
            <a:solidFill>
              <a:srgbClr val="00FF9C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9144"/>
          </a:xfrm>
          <a:prstGeom prst="rect">
            <a:avLst/>
          </a:prstGeom>
          <a:solidFill>
            <a:srgbClr val="00FF9C">
              <a:alpha val="8000"/>
            </a:srgbClr>
          </a:solidFill>
          <a:ln w="12700">
            <a:solidFill>
              <a:srgbClr val="00FF9C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29200"/>
            <a:ext cx="9144000" cy="9144"/>
          </a:xfrm>
          <a:prstGeom prst="rect">
            <a:avLst/>
          </a:prstGeom>
          <a:solidFill>
            <a:srgbClr val="00FF9C">
              <a:alpha val="8000"/>
            </a:srgbClr>
          </a:solidFill>
          <a:ln w="12700">
            <a:solidFill>
              <a:srgbClr val="00FF9C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FF9C"/>
          </a:solidFill>
          <a:ln w="12700">
            <a:solidFill>
              <a:srgbClr val="00FF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45720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0" dirty="0">
                <a:solidFill>
                  <a:srgbClr val="000000"/>
                </a:solidFill>
              </a:rPr>
              <a:t>🌐</a:t>
            </a:r>
            <a:endParaRPr lang="en-US" sz="10500" dirty="0"/>
          </a:p>
        </p:txBody>
      </p:sp>
      <p:sp>
        <p:nvSpPr>
          <p:cNvPr id="16" name="Shape 14"/>
          <p:cNvSpPr/>
          <p:nvPr/>
        </p:nvSpPr>
        <p:spPr>
          <a:xfrm>
            <a:off x="5669280" y="320040"/>
            <a:ext cx="3108960" cy="3108960"/>
          </a:xfrm>
          <a:prstGeom prst="ellipse">
            <a:avLst/>
          </a:prstGeom>
          <a:solidFill>
            <a:srgbClr val="00B4FF">
              <a:alpha val="12000"/>
            </a:srgbClr>
          </a:solidFill>
          <a:ln w="12700">
            <a:solidFill>
              <a:srgbClr val="00B4FF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502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800" kern="0" dirty="0">
                <a:solidFill>
                  <a:srgbClr val="4A6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FURTHER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74320" y="11430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1200" kern="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</a:t>
            </a:r>
            <a:endParaRPr lang="en-US" sz="8000" dirty="0"/>
          </a:p>
        </p:txBody>
      </p:sp>
      <p:sp>
        <p:nvSpPr>
          <p:cNvPr id="19" name="Shape 17"/>
          <p:cNvSpPr/>
          <p:nvPr/>
        </p:nvSpPr>
        <p:spPr>
          <a:xfrm>
            <a:off x="274320" y="2331720"/>
            <a:ext cx="5029200" cy="4572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Network Scanning &amp; Enumeration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74320" y="2926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 Room — Cyber Security Group Presentation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34015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749040"/>
            <a:ext cx="1719072" cy="548640"/>
          </a:xfrm>
          <a:prstGeom prst="rect">
            <a:avLst/>
          </a:prstGeom>
          <a:solidFill>
            <a:srgbClr val="122032"/>
          </a:solidFill>
          <a:ln w="1270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3749040"/>
            <a:ext cx="171907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&amp; Scanning Basics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03120" y="3749040"/>
            <a:ext cx="1719072" cy="548640"/>
          </a:xfrm>
          <a:prstGeom prst="rect">
            <a:avLst/>
          </a:prstGeom>
          <a:solidFill>
            <a:srgbClr val="122032"/>
          </a:solidFill>
          <a:ln w="1270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103120" y="3749040"/>
            <a:ext cx="171907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Scan Types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31920" y="3749040"/>
            <a:ext cx="1719072" cy="548640"/>
          </a:xfrm>
          <a:prstGeom prst="rect">
            <a:avLst/>
          </a:prstGeom>
          <a:solidFill>
            <a:srgbClr val="122032"/>
          </a:solidFill>
          <a:ln w="1270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931920" y="3749040"/>
            <a:ext cx="171907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&amp; Special Scans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407408"/>
            <a:ext cx="1719072" cy="548640"/>
          </a:xfrm>
          <a:prstGeom prst="rect">
            <a:avLst/>
          </a:prstGeom>
          <a:solidFill>
            <a:srgbClr val="122032"/>
          </a:solidFill>
          <a:ln w="1270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4407408"/>
            <a:ext cx="171907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Scripts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03120" y="4407408"/>
            <a:ext cx="1719072" cy="548640"/>
          </a:xfrm>
          <a:prstGeom prst="rect">
            <a:avLst/>
          </a:prstGeom>
          <a:solidFill>
            <a:srgbClr val="122032"/>
          </a:solidFill>
          <a:ln w="1270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103120" y="4407408"/>
            <a:ext cx="171907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Verbosity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931920" y="4407408"/>
            <a:ext cx="1719072" cy="548640"/>
          </a:xfrm>
          <a:prstGeom prst="rect">
            <a:avLst/>
          </a:prstGeom>
          <a:solidFill>
            <a:srgbClr val="122032"/>
          </a:solidFill>
          <a:ln w="1270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931920" y="4407408"/>
            <a:ext cx="171907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Evasion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FF9C"/>
          </a:solidFill>
          <a:ln w="12700">
            <a:solidFill>
              <a:srgbClr val="00FF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WHAT IS NMAP?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8686800" cy="822960"/>
          </a:xfrm>
          <a:prstGeom prst="rect">
            <a:avLst/>
          </a:prstGeom>
          <a:solidFill>
            <a:srgbClr val="122032"/>
          </a:solidFill>
          <a:ln w="1905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68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(Network Mapper) is the industry-standard tool for port scanning and network reconnaissance.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280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scans targets for open ports, running services, OS versions, and vulnerabilities — the first step in almost every pentest.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810512"/>
            <a:ext cx="420624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901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Ports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30428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computer has 65,535 ports — virtual doors that let services communicate.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0–1023 = Well-known ports (1,024 standard)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 = HTTP  •  443 = HTTPS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22 = SSH  •  445 = SMB  •  3306 = MySQL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36592" y="1810512"/>
            <a:ext cx="420624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64608" y="1901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States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64608" y="2331720"/>
            <a:ext cx="777240" cy="310896"/>
          </a:xfrm>
          <a:prstGeom prst="rect">
            <a:avLst/>
          </a:prstGeom>
          <a:solidFill>
            <a:srgbClr val="00FF9C">
              <a:alpha val="80000"/>
            </a:srgbClr>
          </a:solidFill>
          <a:ln w="12700">
            <a:solidFill>
              <a:srgbClr val="00FF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23317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15000" y="2359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actively listening — a potential entry point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64608" y="2734056"/>
            <a:ext cx="777240" cy="310896"/>
          </a:xfrm>
          <a:prstGeom prst="rect">
            <a:avLst/>
          </a:prstGeom>
          <a:solidFill>
            <a:srgbClr val="FF3A3A">
              <a:alpha val="80000"/>
            </a:srgbClr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73405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15000" y="2761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 listening — port is reachable but inactive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64608" y="3136392"/>
            <a:ext cx="777240" cy="310896"/>
          </a:xfrm>
          <a:prstGeom prst="rect">
            <a:avLst/>
          </a:prstGeom>
          <a:solidFill>
            <a:srgbClr val="FFD60A">
              <a:alpha val="80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31363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15000" y="31638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blocking — Nmap can't tell if open or closed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" y="3749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" y="4069080"/>
            <a:ext cx="8686800" cy="868680"/>
          </a:xfrm>
          <a:prstGeom prst="rect">
            <a:avLst/>
          </a:prstGeom>
          <a:solidFill>
            <a:srgbClr val="040A10"/>
          </a:solidFill>
          <a:ln w="1270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4114800"/>
            <a:ext cx="841248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[scan type] [options] &lt;target IP&gt;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-sS -sV -O -p 1-1000 192.168.1.1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🔌  TCP SCAN TYPES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8686800" cy="1298448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41248"/>
            <a:ext cx="1234440" cy="1298448"/>
          </a:xfrm>
          <a:prstGeom prst="rect">
            <a:avLst/>
          </a:prstGeom>
          <a:solidFill>
            <a:srgbClr val="00B4FF">
              <a:alpha val="82000"/>
            </a:srgbClr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6032" y="1435608"/>
            <a:ext cx="1234440" cy="704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Connect Scan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72768" y="9144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the full TCP 3-way handshake (SYN → SYN/ACK → ACK).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72768" y="13441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Works without root/sudo privileges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66360" y="1344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Loud — leaves logs on target. Slower than SYN scan.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72768" y="173736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sudo: No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231136"/>
            <a:ext cx="8686800" cy="1298448"/>
          </a:xfrm>
          <a:prstGeom prst="rect">
            <a:avLst/>
          </a:prstGeom>
          <a:solidFill>
            <a:srgbClr val="0D1B2A"/>
          </a:solidFill>
          <a:ln w="1905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31136"/>
            <a:ext cx="1234440" cy="1298448"/>
          </a:xfrm>
          <a:prstGeom prst="rect">
            <a:avLst/>
          </a:prstGeom>
          <a:solidFill>
            <a:srgbClr val="00FF9C">
              <a:alpha val="82000"/>
            </a:srgbClr>
          </a:solidFill>
          <a:ln w="12700">
            <a:solidFill>
              <a:srgbClr val="00FF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231136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6032" y="2825496"/>
            <a:ext cx="1234440" cy="704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/ Stealth Scan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72768" y="230428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SYN, waits for SYN/ACK, then sends RST instead of ACK — never completes the handshake.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72768" y="27340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Faster, stealthier — often not logged. Default scan.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27340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Requires root/sudo privileges to run.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72768" y="31272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sudo: YES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621024"/>
            <a:ext cx="8686800" cy="1298448"/>
          </a:xfrm>
          <a:prstGeom prst="rect">
            <a:avLst/>
          </a:prstGeom>
          <a:solidFill>
            <a:srgbClr val="0D1B2A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621024"/>
            <a:ext cx="1234440" cy="1298448"/>
          </a:xfrm>
          <a:prstGeom prst="rect">
            <a:avLst/>
          </a:prstGeom>
          <a:solidFill>
            <a:srgbClr val="FF6B35">
              <a:alpha val="8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621024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-sU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56032" y="4215384"/>
            <a:ext cx="1234440" cy="704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Scan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72768" y="369417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UDP packets. No response = open|filtered. ICMP 'unreachable' = closed.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72768" y="41239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Finds UDP services: DNS (53), SNMP (161), DHCP (67)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41239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Very slow. Often run on top ports only: --top-ports 20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72768" y="451713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sudo: YES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4663440"/>
            <a:ext cx="8686800" cy="384048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 TCP 3-Way Handshake:  SYN  →  SYN/ACK  →  ACK   |   SYN scan breaks it:  SYN  →  SYN/ACK  →  RST  (half-open = stealthy)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SPECIAL SCAN TYPES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85039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scans are used to evade basic IDS/firewalls by sending unusual flag combinations. Especially useful on Linux/Unix targets.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325880"/>
            <a:ext cx="4251960" cy="1600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25880"/>
            <a:ext cx="4251960" cy="457200"/>
          </a:xfrm>
          <a:prstGeom prst="rect">
            <a:avLst/>
          </a:prstGeom>
          <a:solidFill>
            <a:srgbClr val="00B4FF">
              <a:alpha val="82000"/>
            </a:srgbClr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-sN   NULL Scan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TCP packet with NO flags set. If port is open: no response. If closed: RST returned.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on: Linux/Unix  |  Windows returns RST for all — not reliable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251960" cy="1600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25880"/>
            <a:ext cx="4251960" cy="457200"/>
          </a:xfrm>
          <a:prstGeom prst="rect">
            <a:avLst/>
          </a:prstGeom>
          <a:solidFill>
            <a:srgbClr val="00FF9C">
              <a:alpha val="82000"/>
            </a:srgbClr>
          </a:solidFill>
          <a:ln w="12700">
            <a:solidFill>
              <a:srgbClr val="00FF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-sF   FIN Scan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18888" y="1847088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TCP FIN flag (normally used to close a connection). Open ports ignore it; closed ports reply with RST.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8888" y="2542032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on: Linux/Unix  |  Windows returns RST for all — not reliable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3081528"/>
            <a:ext cx="4251960" cy="1600200"/>
          </a:xfrm>
          <a:prstGeom prst="rect">
            <a:avLst/>
          </a:prstGeom>
          <a:solidFill>
            <a:srgbClr val="0D1B2A"/>
          </a:solidFill>
          <a:ln w="15240">
            <a:solidFill>
              <a:srgbClr val="FF3A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081528"/>
            <a:ext cx="4251960" cy="457200"/>
          </a:xfrm>
          <a:prstGeom prst="rect">
            <a:avLst/>
          </a:prstGeom>
          <a:solidFill>
            <a:srgbClr val="FF3A3A">
              <a:alpha val="82000"/>
            </a:srgbClr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81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-sX   Xmas Scan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3602736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FIN, PSH, and URG flags — 'lights up like a Christmas tree'. Same response rules as NULL/FIN.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297680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the blinking lights effect of all flags being set simultaneously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081528"/>
            <a:ext cx="4251960" cy="1600200"/>
          </a:xfrm>
          <a:prstGeom prst="rect">
            <a:avLst/>
          </a:prstGeom>
          <a:solidFill>
            <a:srgbClr val="0D1B2A"/>
          </a:solidFill>
          <a:ln w="15240">
            <a:solidFill>
              <a:srgbClr val="FFD60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081528"/>
            <a:ext cx="4251960" cy="457200"/>
          </a:xfrm>
          <a:prstGeom prst="rect">
            <a:avLst/>
          </a:prstGeom>
          <a:solidFill>
            <a:srgbClr val="FFD60A">
              <a:alpha val="82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3081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-sn   Ping Sweep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18888" y="3602736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 scan — just checks which hosts are alive on a network. Sends ICMP echo + TCP probes.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18888" y="4297680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nmap -sn 172.16.0.0/16 to sweep the full 172.16.x.x network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4709160"/>
            <a:ext cx="868680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709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NULL, FIN &amp; Xmas scans all show open|filtered if no response — Microsoft Windows responds with RST for ALL ports, making them unreliable on Windows.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KEY NMAP SWITCHES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4251960" cy="196596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41248"/>
            <a:ext cx="4251960" cy="411480"/>
          </a:xfrm>
          <a:prstGeom prst="rect">
            <a:avLst/>
          </a:prstGeom>
          <a:solidFill>
            <a:srgbClr val="00B4FF">
              <a:alpha val="82000"/>
            </a:srgbClr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316736"/>
            <a:ext cx="4069080" cy="1417320"/>
          </a:xfrm>
          <a:prstGeom prst="rect">
            <a:avLst/>
          </a:prstGeom>
          <a:solidFill>
            <a:srgbClr val="040A10"/>
          </a:solidFill>
          <a:ln w="12700">
            <a:solidFill>
              <a:srgbClr val="040A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44168"/>
            <a:ext cx="39319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-sV  Detect service versions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   Detect operating system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   Aggressive (OS + version + scripts + traceroute)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41248"/>
            <a:ext cx="4251960" cy="1965960"/>
          </a:xfrm>
          <a:prstGeom prst="rect">
            <a:avLst/>
          </a:prstGeom>
          <a:solidFill>
            <a:srgbClr val="0D1B2A"/>
          </a:solidFill>
          <a:ln w="1524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41248"/>
            <a:ext cx="4251960" cy="411480"/>
          </a:xfrm>
          <a:prstGeom prst="rect">
            <a:avLst/>
          </a:prstGeom>
          <a:solidFill>
            <a:srgbClr val="00FF9C">
              <a:alpha val="82000"/>
            </a:srgbClr>
          </a:solidFill>
          <a:ln w="12700">
            <a:solidFill>
              <a:srgbClr val="00FF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8412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1316736"/>
            <a:ext cx="4069080" cy="1417320"/>
          </a:xfrm>
          <a:prstGeom prst="rect">
            <a:avLst/>
          </a:prstGeom>
          <a:solidFill>
            <a:srgbClr val="040A10"/>
          </a:solidFill>
          <a:ln w="12700">
            <a:solidFill>
              <a:srgbClr val="040A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44168"/>
            <a:ext cx="39319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   Increase verbosity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-vv  Verbosity level 2 (recommended)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-oA  Save in all 3 formats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-oN  Save in normal format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-oG  Save in grepable format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" y="2926080"/>
            <a:ext cx="4251960" cy="1965960"/>
          </a:xfrm>
          <a:prstGeom prst="rect">
            <a:avLst/>
          </a:prstGeom>
          <a:solidFill>
            <a:srgbClr val="0D1B2A"/>
          </a:solidFill>
          <a:ln w="15240">
            <a:solidFill>
              <a:srgbClr val="FFD60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926080"/>
            <a:ext cx="4251960" cy="411480"/>
          </a:xfrm>
          <a:prstGeom prst="rect">
            <a:avLst/>
          </a:prstGeom>
          <a:solidFill>
            <a:srgbClr val="FFD60A">
              <a:alpha val="82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26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Selection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3401568"/>
            <a:ext cx="4069080" cy="1417320"/>
          </a:xfrm>
          <a:prstGeom prst="rect">
            <a:avLst/>
          </a:prstGeom>
          <a:solidFill>
            <a:srgbClr val="040A10"/>
          </a:solidFill>
          <a:ln w="12700">
            <a:solidFill>
              <a:srgbClr val="040A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429000"/>
            <a:ext cx="39319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80        Scan port 80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1-1000    Scan ports 1 to 1000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-p-          Scan all 65,535 ports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--top-ports 20  Most common 20 ports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251960" cy="1965960"/>
          </a:xfrm>
          <a:prstGeom prst="rect">
            <a:avLst/>
          </a:prstGeom>
          <a:solidFill>
            <a:srgbClr val="0D1B2A"/>
          </a:solidFill>
          <a:ln w="15240">
            <a:solidFill>
              <a:srgbClr val="FF6B3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26080"/>
            <a:ext cx="4251960" cy="411480"/>
          </a:xfrm>
          <a:prstGeom prst="rect">
            <a:avLst/>
          </a:prstGeom>
          <a:solidFill>
            <a:srgbClr val="FF6B35">
              <a:alpha val="8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926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3401568"/>
            <a:ext cx="4069080" cy="1417320"/>
          </a:xfrm>
          <a:prstGeom prst="rect">
            <a:avLst/>
          </a:prstGeom>
          <a:solidFill>
            <a:srgbClr val="040A10"/>
          </a:solidFill>
          <a:ln w="12700">
            <a:solidFill>
              <a:srgbClr val="040A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429000"/>
            <a:ext cx="39319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-T0  Paranoid (IDS evasion, very slow)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-T1  Sneaky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-T3  Normal (default)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-T4  Aggressive (CTF recommended)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-T5  Insane (very noisy)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" y="4709160"/>
            <a:ext cx="868680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709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 Always save results: nmap -sS -sV -O -oA scan_results &lt;target&gt;   — saves .nmap .xml .gnmap files for reporting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FF9C"/>
          </a:solidFill>
          <a:ln w="12700">
            <a:solidFill>
              <a:srgbClr val="00FF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📜  NSE — NMAP SCRIPTING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4206240" cy="14813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932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NSE?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Nmap Scripting Engine transforms Nmap from a simple scanner into a full recon and exploitation framework. Scripts are written in the Lua programming language and stored in /usr/share/nmap/scripts/.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36592" y="841248"/>
            <a:ext cx="4206240" cy="14813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932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Categories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64608" y="1353312"/>
            <a:ext cx="658368" cy="274320"/>
          </a:xfrm>
          <a:prstGeom prst="rect">
            <a:avLst/>
          </a:prstGeom>
          <a:solidFill>
            <a:srgbClr val="00FF9C">
              <a:alpha val="80000"/>
            </a:srgbClr>
          </a:solidFill>
          <a:ln w="12700">
            <a:solidFill>
              <a:srgbClr val="00FF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3533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577840" y="13716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run on any target — no impact on the system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30568" y="1353312"/>
            <a:ext cx="658368" cy="274320"/>
          </a:xfrm>
          <a:prstGeom prst="rect">
            <a:avLst/>
          </a:prstGeom>
          <a:solidFill>
            <a:srgbClr val="00FF9C">
              <a:alpha val="80000"/>
            </a:srgbClr>
          </a:solidFill>
          <a:ln w="12700">
            <a:solidFill>
              <a:srgbClr val="00FF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0568" y="13533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intrusive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543800" y="13716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— may crash services or trigger alerts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64608" y="1792224"/>
            <a:ext cx="658368" cy="274320"/>
          </a:xfrm>
          <a:prstGeom prst="rect">
            <a:avLst/>
          </a:prstGeom>
          <a:solidFill>
            <a:srgbClr val="00FF9C">
              <a:alpha val="80000"/>
            </a:srgbClr>
          </a:solidFill>
          <a:ln w="12700">
            <a:solidFill>
              <a:srgbClr val="00FF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7922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577840" y="181051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known vulnerabilities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30568" y="1792224"/>
            <a:ext cx="658368" cy="274320"/>
          </a:xfrm>
          <a:prstGeom prst="rect">
            <a:avLst/>
          </a:prstGeom>
          <a:solidFill>
            <a:srgbClr val="00FF9C">
              <a:alpha val="80000"/>
            </a:srgbClr>
          </a:solidFill>
          <a:ln w="12700">
            <a:solidFill>
              <a:srgbClr val="00FF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17922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exploit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543800" y="181051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to exploit vulnerabilities found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" y="24414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NSE Scripts: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" y="2788920"/>
            <a:ext cx="8686800" cy="1993392"/>
          </a:xfrm>
          <a:prstGeom prst="rect">
            <a:avLst/>
          </a:prstGeom>
          <a:solidFill>
            <a:srgbClr val="040A10"/>
          </a:solidFill>
          <a:ln w="1270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2834640"/>
            <a:ext cx="8412480" cy="19019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a specific script: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--script=http-title &lt;target&gt;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multiple scripts: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--script=smb-enum-shares,smb-enum-users &lt;target&gt;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all scripts in a category: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--script=vuln &lt;target&gt;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Pass arguments to a script: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--script=http-put --script-args http-put.url='/path',http-put.file='file.txt' &lt;target&gt;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" y="4818888"/>
            <a:ext cx="8686800" cy="256032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8188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 Find scripts:  ls /usr/share/nmap/scripts/ | grep smb   OR   grep -r 'categories' /usr/share/nmap/scripts/*.nse | grep vuln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🛡️  FIREWALL EVASION TECHNIQUES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8503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block certain scans. Nmap has built-in techniques to work around them: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86868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61872"/>
            <a:ext cx="1325880" cy="640080"/>
          </a:xfrm>
          <a:prstGeom prst="rect">
            <a:avLst/>
          </a:prstGeom>
          <a:solidFill>
            <a:srgbClr val="FF3A3A">
              <a:alpha val="80000"/>
            </a:srgbClr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2618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" y="1609344"/>
            <a:ext cx="13258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Host Discovery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64208" y="1298448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Nmap pings hosts first. Windows firewalls block ICMP (ping), so Nmap thinks the host is dead and skips it. -Pn tells Nmap to skip the ping and treat all hosts as alive — essential for Windows targets.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086600" y="1335024"/>
            <a:ext cx="1783080" cy="475488"/>
          </a:xfrm>
          <a:prstGeom prst="rect">
            <a:avLst/>
          </a:prstGeom>
          <a:solidFill>
            <a:srgbClr val="040A10"/>
          </a:solidFill>
          <a:ln w="6350">
            <a:solidFill>
              <a:srgbClr val="FF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14032" y="1335024"/>
            <a:ext cx="171907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-Pn -sS &lt;target&gt;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" y="1993392"/>
            <a:ext cx="86868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993392"/>
            <a:ext cx="1325880" cy="64008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933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" y="2340864"/>
            <a:ext cx="13258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Packets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64208" y="2029968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packets into smaller fragments, making it harder for firewalls and IDS to detect the scan pattern. Each fragment is too small to trigger signature-based detection rules.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086600" y="2066544"/>
            <a:ext cx="1783080" cy="475488"/>
          </a:xfrm>
          <a:prstGeom prst="rect">
            <a:avLst/>
          </a:prstGeom>
          <a:solidFill>
            <a:srgbClr val="040A10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2066544"/>
            <a:ext cx="171907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-f &lt;target&gt;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" y="2724912"/>
            <a:ext cx="86868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724912"/>
            <a:ext cx="1325880" cy="640080"/>
          </a:xfrm>
          <a:prstGeom prst="rect">
            <a:avLst/>
          </a:prstGeom>
          <a:solidFill>
            <a:srgbClr val="FFD60A">
              <a:alpha val="80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724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--mtu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" y="3072384"/>
            <a:ext cx="13258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MTU Size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664208" y="2761488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set the Maximum Transmission Unit (packet size). Must be a multiple of 8. Gives more control over packet fragmentation than -f alone.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086600" y="2798064"/>
            <a:ext cx="1783080" cy="475488"/>
          </a:xfrm>
          <a:prstGeom prst="rect">
            <a:avLst/>
          </a:prstGeom>
          <a:solidFill>
            <a:srgbClr val="040A10"/>
          </a:solidFill>
          <a:ln w="6350">
            <a:solidFill>
              <a:srgbClr val="FFD6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4032" y="2798064"/>
            <a:ext cx="171907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--mtu 16 &lt;target&gt;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032" y="3456432"/>
            <a:ext cx="86868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3456432"/>
            <a:ext cx="1325880" cy="640080"/>
          </a:xfrm>
          <a:prstGeom prst="rect">
            <a:avLst/>
          </a:prstGeom>
          <a:solidFill>
            <a:srgbClr val="00B4FF">
              <a:alpha val="80000"/>
            </a:srgbClr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34564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--scan-delay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6032" y="3803904"/>
            <a:ext cx="13258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Timing Delay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64208" y="3493008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delay between probe packets to slow the scan below IDS rate-detection thresholds. Useful on unstable networks too.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7086600" y="3529584"/>
            <a:ext cx="1783080" cy="475488"/>
          </a:xfrm>
          <a:prstGeom prst="rect">
            <a:avLst/>
          </a:prstGeom>
          <a:solidFill>
            <a:srgbClr val="040A10"/>
          </a:solidFill>
          <a:ln w="6350">
            <a:solidFill>
              <a:srgbClr val="00B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14032" y="3529584"/>
            <a:ext cx="171907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--scan-delay 1000ms &lt;target&gt;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4187952"/>
            <a:ext cx="86868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" y="4187952"/>
            <a:ext cx="1325880" cy="640080"/>
          </a:xfrm>
          <a:prstGeom prst="rect">
            <a:avLst/>
          </a:prstGeom>
          <a:solidFill>
            <a:srgbClr val="00FF9C">
              <a:alpha val="80000"/>
            </a:srgbClr>
          </a:solidFill>
          <a:ln w="12700">
            <a:solidFill>
              <a:srgbClr val="00FF9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41879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--data-length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56032" y="4535424"/>
            <a:ext cx="13258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Random Data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664208" y="4224528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an arbitrary length of random data to packet payloads, making each packet a different size — harder to fingerprint and filter.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7086600" y="4261104"/>
            <a:ext cx="1783080" cy="475488"/>
          </a:xfrm>
          <a:prstGeom prst="rect">
            <a:avLst/>
          </a:prstGeom>
          <a:solidFill>
            <a:srgbClr val="040A10"/>
          </a:solidFill>
          <a:ln w="6350">
            <a:solidFill>
              <a:srgbClr val="00FF9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14032" y="4261104"/>
            <a:ext cx="171907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--data-length 200 &lt;target&gt;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6032" y="4919472"/>
            <a:ext cx="8686800" cy="182880"/>
          </a:xfrm>
          <a:prstGeom prst="rect">
            <a:avLst/>
          </a:prstGeom>
          <a:solidFill>
            <a:srgbClr val="0A1520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Always use these ethically and only on networks / systems you have permission to test.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🖥️  PRACTICAL SCANNING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84124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pentest recon workflow using Nmap — from first contact to full enumeration: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280160"/>
            <a:ext cx="42519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FFD60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80160"/>
            <a:ext cx="594360" cy="1115568"/>
          </a:xfrm>
          <a:prstGeom prst="rect">
            <a:avLst/>
          </a:prstGeom>
          <a:solidFill>
            <a:srgbClr val="FFD60A">
              <a:alpha val="80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280160"/>
            <a:ext cx="594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33502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Discovery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1645920"/>
            <a:ext cx="3493008" cy="274320"/>
          </a:xfrm>
          <a:prstGeom prst="rect">
            <a:avLst/>
          </a:prstGeom>
          <a:solidFill>
            <a:srgbClr val="040A10"/>
          </a:solidFill>
          <a:ln w="6350">
            <a:solidFill>
              <a:srgbClr val="FFD6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645920"/>
            <a:ext cx="34198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-sn 192.168.1.0/24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975104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sweep — find which hosts are alive on the network before scanning ports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280160"/>
            <a:ext cx="42519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280160"/>
            <a:ext cx="594360" cy="1115568"/>
          </a:xfrm>
          <a:prstGeom prst="rect">
            <a:avLst/>
          </a:prstGeom>
          <a:solidFill>
            <a:srgbClr val="00B4FF">
              <a:alpha val="80000"/>
            </a:srgbClr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80160"/>
            <a:ext cx="594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67528" y="133502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Port Scan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67528" y="1645920"/>
            <a:ext cx="3493008" cy="274320"/>
          </a:xfrm>
          <a:prstGeom prst="rect">
            <a:avLst/>
          </a:prstGeom>
          <a:solidFill>
            <a:srgbClr val="040A10"/>
          </a:solidFill>
          <a:ln w="6350">
            <a:solidFill>
              <a:srgbClr val="00B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04104" y="1645920"/>
            <a:ext cx="34198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-sS --top-ports 1000 -T4 &lt;target&gt;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67528" y="1975104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stealth SYN scan on the 1000 most common ports — fast triage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280160"/>
            <a:ext cx="42519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1280160"/>
            <a:ext cx="594360" cy="1115568"/>
          </a:xfrm>
          <a:prstGeom prst="rect">
            <a:avLst/>
          </a:prstGeom>
          <a:solidFill>
            <a:srgbClr val="00FF9C">
              <a:alpha val="80000"/>
            </a:srgbClr>
          </a:solidFill>
          <a:ln w="12700">
            <a:solidFill>
              <a:srgbClr val="00FF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1280160"/>
            <a:ext cx="594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133502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Port Scan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1645920"/>
            <a:ext cx="3493008" cy="274320"/>
          </a:xfrm>
          <a:prstGeom prst="rect">
            <a:avLst/>
          </a:prstGeom>
          <a:solidFill>
            <a:srgbClr val="040A10"/>
          </a:solidFill>
          <a:ln w="6350">
            <a:solidFill>
              <a:srgbClr val="00FF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1645920"/>
            <a:ext cx="34198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-sS -p- -T4 &lt;target&gt;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1975104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all 65,535 ports — don't miss services running on unusual ports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514600"/>
            <a:ext cx="42519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514600"/>
            <a:ext cx="594360" cy="1115568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514600"/>
            <a:ext cx="594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67528" y="256946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OS Detection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67528" y="2880360"/>
            <a:ext cx="3493008" cy="274320"/>
          </a:xfrm>
          <a:prstGeom prst="rect">
            <a:avLst/>
          </a:prstGeom>
          <a:solidFill>
            <a:srgbClr val="040A10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04104" y="2880360"/>
            <a:ext cx="34198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-O -sC &lt;target&gt; -p &lt;open ports&gt;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67528" y="3209544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exact service versions and OS fingerprint on discovered open ports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2514600"/>
            <a:ext cx="42519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FF3A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2514600"/>
            <a:ext cx="594360" cy="1115568"/>
          </a:xfrm>
          <a:prstGeom prst="rect">
            <a:avLst/>
          </a:prstGeom>
          <a:solidFill>
            <a:srgbClr val="FF3A3A">
              <a:alpha val="80000"/>
            </a:srgbClr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2514600"/>
            <a:ext cx="594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14400" y="256946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Scripts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14400" y="2880360"/>
            <a:ext cx="3493008" cy="274320"/>
          </a:xfrm>
          <a:prstGeom prst="rect">
            <a:avLst/>
          </a:prstGeom>
          <a:solidFill>
            <a:srgbClr val="040A10"/>
          </a:solidFill>
          <a:ln w="6350">
            <a:solidFill>
              <a:srgbClr val="FF3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" y="2880360"/>
            <a:ext cx="34198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--script=vuln &lt;target&gt;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4400" y="3209544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NSE vulnerability scripts against the target to identify known CVEs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2514600"/>
            <a:ext cx="42519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4A648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2514600"/>
            <a:ext cx="594360" cy="1115568"/>
          </a:xfrm>
          <a:prstGeom prst="rect">
            <a:avLst/>
          </a:prstGeom>
          <a:solidFill>
            <a:srgbClr val="4A6480">
              <a:alpha val="80000"/>
            </a:srgbClr>
          </a:solidFill>
          <a:ln w="12700">
            <a:solidFill>
              <a:srgbClr val="4A64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2514600"/>
            <a:ext cx="594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367528" y="256946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Results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367528" y="2880360"/>
            <a:ext cx="3493008" cy="274320"/>
          </a:xfrm>
          <a:prstGeom prst="rect">
            <a:avLst/>
          </a:prstGeom>
          <a:solidFill>
            <a:srgbClr val="040A10"/>
          </a:solidFill>
          <a:ln w="6350">
            <a:solidFill>
              <a:srgbClr val="4A64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04104" y="2880360"/>
            <a:ext cx="34198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-oA full_scan &lt;target&gt;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67528" y="3209544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save output in all formats for reporting and future reference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5010912"/>
            <a:ext cx="8686800" cy="9144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 COMMON PORTS CHEAT SHEET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8686800" cy="347472"/>
          </a:xfrm>
          <a:prstGeom prst="rect">
            <a:avLst/>
          </a:prstGeom>
          <a:solidFill>
            <a:srgbClr val="FF6B35">
              <a:alpha val="8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99232" y="82296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/ ATTACK SURFACE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188720"/>
            <a:ext cx="8686800" cy="237744"/>
          </a:xfrm>
          <a:prstGeom prst="rect">
            <a:avLst/>
          </a:prstGeom>
          <a:solidFill>
            <a:srgbClr val="122032"/>
          </a:solidFill>
          <a:ln w="12700">
            <a:solidFill>
              <a:srgbClr val="1220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88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1560" y="1188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03120" y="1188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99232" y="11887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— check for anonymous login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1440180"/>
            <a:ext cx="868680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4401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51560" y="14401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03120" y="1440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99232" y="144018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Shell — brute force or key abuse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691640"/>
            <a:ext cx="8686800" cy="237744"/>
          </a:xfrm>
          <a:prstGeom prst="rect">
            <a:avLst/>
          </a:prstGeom>
          <a:solidFill>
            <a:srgbClr val="122032"/>
          </a:solidFill>
          <a:ln w="12700">
            <a:solidFill>
              <a:srgbClr val="1220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6916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51560" y="16916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03120" y="16916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99232" y="169164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shell — intercept credentials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1943100"/>
            <a:ext cx="868680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94310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51560" y="19431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03120" y="19431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99232" y="194310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sending — enumerate users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2194560"/>
            <a:ext cx="8686800" cy="237744"/>
          </a:xfrm>
          <a:prstGeom prst="rect">
            <a:avLst/>
          </a:prstGeom>
          <a:solidFill>
            <a:srgbClr val="122032"/>
          </a:solidFill>
          <a:ln w="12700">
            <a:solidFill>
              <a:srgbClr val="1220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1945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51560" y="21945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1945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TCP/UDP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99232" y="219456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resolution — zone transfer attacks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" y="2446020"/>
            <a:ext cx="868680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4460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51560" y="24460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103120" y="24460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999232" y="24460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— web application testing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2697480"/>
            <a:ext cx="8686800" cy="237744"/>
          </a:xfrm>
          <a:prstGeom prst="rect">
            <a:avLst/>
          </a:prstGeom>
          <a:solidFill>
            <a:srgbClr val="122032"/>
          </a:solidFill>
          <a:ln w="12700">
            <a:solidFill>
              <a:srgbClr val="1220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26974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51560" y="26974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POP3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103120" y="26974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999232" y="269748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retrieval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2948940"/>
            <a:ext cx="868680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9489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139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51560" y="29489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NetBIOS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103120" y="29489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999232" y="294894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file sharing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56032" y="3200400"/>
            <a:ext cx="8686800" cy="237744"/>
          </a:xfrm>
          <a:prstGeom prst="rect">
            <a:avLst/>
          </a:prstGeom>
          <a:solidFill>
            <a:srgbClr val="122032"/>
          </a:solidFill>
          <a:ln w="12700">
            <a:solidFill>
              <a:srgbClr val="1220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320040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143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051560" y="32004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103120" y="32004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999232" y="320040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access protocol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6032" y="3451860"/>
            <a:ext cx="868680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4518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051560" y="34518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103120" y="34518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999232" y="345186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management — community strings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56032" y="3703320"/>
            <a:ext cx="8686800" cy="237744"/>
          </a:xfrm>
          <a:prstGeom prst="rect">
            <a:avLst/>
          </a:prstGeom>
          <a:solidFill>
            <a:srgbClr val="122032"/>
          </a:solidFill>
          <a:ln w="12700">
            <a:solidFill>
              <a:srgbClr val="12203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37033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443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051560" y="37033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103120" y="3703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999232" y="37033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web — check SSL/TLS config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56032" y="3954780"/>
            <a:ext cx="868680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9547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445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1051560" y="39547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103120" y="39547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999232" y="395478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shares — EternalBlue target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56032" y="4206240"/>
            <a:ext cx="8686800" cy="237744"/>
          </a:xfrm>
          <a:prstGeom prst="rect">
            <a:avLst/>
          </a:prstGeom>
          <a:solidFill>
            <a:srgbClr val="122032"/>
          </a:solidFill>
          <a:ln w="12700">
            <a:solidFill>
              <a:srgbClr val="12203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0040" y="42062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3306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051560" y="42062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2103120" y="4206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999232" y="420624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check for remote access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56032" y="4457700"/>
            <a:ext cx="868680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445770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3389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1051560" y="44577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2103120" y="44577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2999232" y="445770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Remote Desktop — brute force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56032" y="4709160"/>
            <a:ext cx="8686800" cy="237744"/>
          </a:xfrm>
          <a:prstGeom prst="rect">
            <a:avLst/>
          </a:prstGeom>
          <a:solidFill>
            <a:srgbClr val="122032"/>
          </a:solidFill>
          <a:ln w="12700">
            <a:solidFill>
              <a:srgbClr val="12203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0040" y="47091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8080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1051560" y="4709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Alt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2103120" y="47091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2999232" y="470916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web / proxy port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FF9C"/>
          </a:solidFill>
          <a:ln w="12700">
            <a:solidFill>
              <a:srgbClr val="00FF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800" kern="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FURTHER NMAP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70432"/>
            <a:ext cx="2834640" cy="1755648"/>
          </a:xfrm>
          <a:prstGeom prst="rect">
            <a:avLst/>
          </a:prstGeom>
          <a:solidFill>
            <a:srgbClr val="0D1B2A"/>
          </a:solidFill>
          <a:ln w="1016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24358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 Scans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15798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-sT full connect, -sS stealth SYN (default), -sU UDP — know when to use each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170432"/>
            <a:ext cx="2834640" cy="1755648"/>
          </a:xfrm>
          <a:prstGeom prst="rect">
            <a:avLst/>
          </a:prstGeom>
          <a:solidFill>
            <a:srgbClr val="0D1B2A"/>
          </a:solidFill>
          <a:ln w="1016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72968" y="124358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64408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Scans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215798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NULL, FIN, Xmas bypass basic IDS — but unreliable on Windows (RST for all)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170432"/>
            <a:ext cx="2834640" cy="1755648"/>
          </a:xfrm>
          <a:prstGeom prst="rect">
            <a:avLst/>
          </a:prstGeom>
          <a:solidFill>
            <a:srgbClr val="0D1B2A"/>
          </a:solidFill>
          <a:ln w="1016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63056" y="124358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54496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Scripts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54496" y="215798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Lua-powered scripts for vuln detection, brute force, service enum — massive power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3090672"/>
            <a:ext cx="2834640" cy="1755648"/>
          </a:xfrm>
          <a:prstGeom prst="rect">
            <a:avLst/>
          </a:prstGeom>
          <a:solidFill>
            <a:srgbClr val="0D1B2A"/>
          </a:solidFill>
          <a:ln w="1016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2880" y="316382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74320" y="3730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Evasion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07822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-Pn skips ICMP ping, -f fragments packets, --data-length adds noise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72968" y="3090672"/>
            <a:ext cx="2834640" cy="1755648"/>
          </a:xfrm>
          <a:prstGeom prst="rect">
            <a:avLst/>
          </a:prstGeom>
          <a:solidFill>
            <a:srgbClr val="0D1B2A"/>
          </a:solidFill>
          <a:ln w="1016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72968" y="316382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64408" y="3730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Switches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64408" y="407822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-sV versions, -O OS, -A aggressive, -oA save all, -T4 speed for CTFs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3090672"/>
            <a:ext cx="2834640" cy="1755648"/>
          </a:xfrm>
          <a:prstGeom prst="rect">
            <a:avLst/>
          </a:prstGeom>
          <a:solidFill>
            <a:srgbClr val="0D1B2A"/>
          </a:solidFill>
          <a:ln w="10160">
            <a:solidFill>
              <a:srgbClr val="00FF9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63056" y="316382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254496" y="3730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Enumerate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54496" y="407822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you know before attacking, the more options you have. Nmap first, always.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 Room: tryhackme.com/room/furthernmap   |   Tool: nmap.org   |   Skills: Scanning · Enumeration · Recon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Further Nmap — Advanced Network Scanning</dc:title>
  <dc:subject>PptxGenJS Presentation</dc:subject>
  <dc:creator>PptxGenJS</dc:creator>
  <cp:lastModifiedBy>PptxGenJS</cp:lastModifiedBy>
  <cp:revision>1</cp:revision>
  <dcterms:created xsi:type="dcterms:W3CDTF">2026-03-12T11:56:24Z</dcterms:created>
  <dcterms:modified xsi:type="dcterms:W3CDTF">2026-03-12T11:56:24Z</dcterms:modified>
</cp:coreProperties>
</file>